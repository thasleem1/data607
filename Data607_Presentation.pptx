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8" r:id="rId2"/>
    <p:sldId id="259" r:id="rId3"/>
    <p:sldId id="257" r:id="rId4"/>
    <p:sldId id="256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2" clrIdx="0">
    <p:extLst>
      <p:ext uri="{19B8F6BF-5375-455C-9EA6-DF929625EA0E}">
        <p15:presenceInfo xmlns:p15="http://schemas.microsoft.com/office/powerpoint/2012/main" userId="642dcb00f67335a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327" autoAdjust="0"/>
  </p:normalViewPr>
  <p:slideViewPr>
    <p:cSldViewPr snapToGrid="0">
      <p:cViewPr varScale="1">
        <p:scale>
          <a:sx n="139" d="100"/>
          <a:sy n="139" d="100"/>
        </p:scale>
        <p:origin x="10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C98AD-CDE9-4DB2-B697-C3263AA771D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9172A5-D43A-46C5-A2A6-62F64CA24B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95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Basel Committee on Banking Supervision (BCBS) is a committee of banking supervisory authorities that was established by the central bank governors of the Group of Ten countries in 1974, It provides a forum for regular cooperation on banking supervisory matters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172A5-D43A-46C5-A2A6-62F64CA24B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971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Basel Committee on Banking Supervision (BCBS) is a committee of banking supervisory authorities that was established by the central bank governors of the Group of Ten countries in 1974, It provides a forum for regular cooperation on banking supervisory matters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172A5-D43A-46C5-A2A6-62F64CA24B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93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Basel Committee on Banking Supervision (BCBS) is a committee of banking supervisory authorities that was established by the central bank governors of the Group of Ten countries in 1974, It provides a forum for regular cooperation on banking supervisory matters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172A5-D43A-46C5-A2A6-62F64CA24B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877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172A5-D43A-46C5-A2A6-62F64CA24B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981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Basel Committee on Banking Supervision (BCBS) is a committee of banking supervisory authorities that was established by the central bank governors of the Group of Ten countries in 1974, It provides a forum for regular cooperation on banking supervisory matters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172A5-D43A-46C5-A2A6-62F64CA24B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919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Basel Committee on Banking Supervision (BCBS) is a committee of banking supervisory authorities that was established by the central bank governors of the Group of Ten countries in 1974, It provides a forum for regular cooperation on banking supervisory matters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172A5-D43A-46C5-A2A6-62F64CA24B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09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 Basel Committee on Banking Supervision (BCBS) is a committee of banking supervisory authorities that was established by the central bank governors of the Group of Ten countries in 1974, It provides a forum for regular cooperation on banking supervisory matters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9172A5-D43A-46C5-A2A6-62F64CA24B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115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50D1-0F3F-4D90-B90F-F8E0D5D93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9B554-2078-4C04-B74F-A46365D9F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B9B36-4C25-4460-B4A6-CFE022343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9C1F6-A306-4698-9C26-BB8B262F2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33B6B-6BEA-4CD7-B225-9EFB4E37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6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83CF-8421-4EBE-83B4-6FB7F86E0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CE491-4C19-4579-A77E-B10283823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D34F0-EDEF-46DD-AA7C-0E6EFA3C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A3EC4-DEF5-4AE7-AA89-5602EB23F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E6604-D7C2-4E9B-A45C-6FA028E92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08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26AE-C36C-4DEF-ACBC-5BEB7977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0327A-9072-4839-B164-7778610B5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57A03-C46F-464C-AFBD-1E2072FD0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FA4B-E5C9-4AA6-9EBB-BFD392E88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44D4D-49E3-47FF-9699-DD08FDFAC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07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CED66-C5EA-4BE4-A95D-1C818D35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A57B1-6117-42DD-BE68-DC2E7C3A5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48FB3-7BAB-4AB8-B55B-BB973CE50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BD50E6-9E2D-4DDB-875C-249ED75FF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CC7094-380A-4647-914B-3C2C17AD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D30AD3-AE14-4889-9E55-8DC19FB1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6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ABD6-95CA-4906-8EC5-C8FA65D97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6AC895-076B-4451-8D00-0185561F1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102A5-ABD6-494A-98A3-9C8475812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9DBBFB-4603-4075-8C21-A7D027FB99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C4797F-2D89-44E3-9D48-824BC36406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2ABAE-1D6E-45C5-A59B-B99CB9549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74120-8D0C-401F-A008-0ED448026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62C118-32DD-4668-A138-8145203F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79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61635-DAD2-4B06-BA75-8BDC9B6A1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EFB276-D9FD-4C65-9B4B-A5DC76D5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2EBA4D-942D-4D5D-8C13-2DBF195C5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C69AC2-BCB1-474A-97FA-601DBFDB5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572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02A62-942A-4DCA-9D7C-3E85ADAB7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85C3DD-8E7D-463B-AFB2-925435108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585ED-0157-4A71-BD83-70ED5FC6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6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4C31-2C7E-40AA-AAE2-AB79E0476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CEF64-08EB-42BD-A33D-DF1E98CB8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5F0432-FA80-4212-A642-D3D914305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2307F-D505-4086-98E3-37996ED8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EB9CE-C8C1-47DA-A711-299B860DF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17A9D-E5A5-4BBB-8F88-3F6933679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9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5A64C-3B4E-4087-998A-BB8E250F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74FD1-6611-40BD-889E-3BCADD6890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C11F05-DE0F-44F8-BD4D-4B0BE218A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D4C62-CE46-492D-85D5-29171F6DA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11225-CAC5-45B7-AAF0-9E38C1CD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E5961-82DF-42B7-8887-9A431DE19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44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CBCCB-8DAC-4D4A-9900-B26DC989D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3109A-357C-4E48-9727-7A9D00E7B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F8A89-E799-4A99-A024-319BBFDDF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C969D-F2DD-4E87-B617-E7426A5D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C3A36-3FCD-40B3-94BF-B08FDB3D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7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3EE827-7D50-4076-89FD-E47A0A5BC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B14818-35B9-4B21-8B34-BCE4D059A6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96797-6F15-47BC-9E19-3D03E8820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6E112-FA96-46A4-A452-611EA9B2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E3365-9CAF-49A1-913B-B7D2D533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023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C8B3B1-FCDC-4C79-B97F-5CD51C235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23A78-2E5B-4B55-A23D-14BA878FC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B61C9-1CFB-466D-BA96-25A5A1C27C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F9CFB-2B1E-4664-B3CD-50A044ECE5A4}" type="datetimeFigureOut">
              <a:rPr lang="en-US" smtClean="0"/>
              <a:t>2/20/2019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1F231-928C-4320-98CA-0240B6515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93295-5A4C-477D-8F58-00E7F8F61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FF1ED-5CF6-4B35-BF1D-C3FC6D043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24902-4C74-4D55-A740-8019EA054A82}"/>
              </a:ext>
            </a:extLst>
          </p:cNvPr>
          <p:cNvSpPr txBox="1"/>
          <p:nvPr/>
        </p:nvSpPr>
        <p:spPr>
          <a:xfrm>
            <a:off x="497883" y="319047"/>
            <a:ext cx="1114917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Data Quality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94C94-1E69-4717-90C9-6E7573D98709}"/>
              </a:ext>
            </a:extLst>
          </p:cNvPr>
          <p:cNvSpPr txBox="1"/>
          <p:nvPr/>
        </p:nvSpPr>
        <p:spPr>
          <a:xfrm>
            <a:off x="497883" y="987849"/>
            <a:ext cx="1114917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Agenda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Introduction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BCBS 239 Principles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Data Quality Dimension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Data Quality Tools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Data Quality Insights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Data Quality Results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Sample Report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50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24902-4C74-4D55-A740-8019EA054A82}"/>
              </a:ext>
            </a:extLst>
          </p:cNvPr>
          <p:cNvSpPr txBox="1"/>
          <p:nvPr/>
        </p:nvSpPr>
        <p:spPr>
          <a:xfrm>
            <a:off x="497883" y="319047"/>
            <a:ext cx="1114917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Data Quality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94C94-1E69-4717-90C9-6E7573D98709}"/>
              </a:ext>
            </a:extLst>
          </p:cNvPr>
          <p:cNvSpPr txBox="1"/>
          <p:nvPr/>
        </p:nvSpPr>
        <p:spPr>
          <a:xfrm>
            <a:off x="497883" y="1057423"/>
            <a:ext cx="1114917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What is Data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degree to which data are accurate, complete, timely, valid and appropriate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Why Data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doesn’t have to be perfect, but rather, it needs to meet the requirements of whatever system utilizes else the result will be inaccurate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may go wrong in many ways (some examples)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Integrating with third party application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Data from multiple sources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Systems are set up differently in different parts of the world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It is a part of regulatory requirement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Meaningful Insights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456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24902-4C74-4D55-A740-8019EA054A82}"/>
              </a:ext>
            </a:extLst>
          </p:cNvPr>
          <p:cNvSpPr txBox="1"/>
          <p:nvPr/>
        </p:nvSpPr>
        <p:spPr>
          <a:xfrm>
            <a:off x="497883" y="319047"/>
            <a:ext cx="1114917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BCBS 239 Principles - (Regulatory Requirement)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94C94-1E69-4717-90C9-6E7573D98709}"/>
              </a:ext>
            </a:extLst>
          </p:cNvPr>
          <p:cNvSpPr txBox="1"/>
          <p:nvPr/>
        </p:nvSpPr>
        <p:spPr>
          <a:xfrm>
            <a:off x="497883" y="987849"/>
            <a:ext cx="1114917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BCBS 239 is the </a:t>
            </a:r>
            <a:r>
              <a:rPr lang="en-US" sz="1600" b="1" dirty="0"/>
              <a:t>Basel</a:t>
            </a:r>
            <a:r>
              <a:rPr lang="en-US" sz="1600" dirty="0"/>
              <a:t> Committee on Banking Supervision's standard number 239 (published in 2013)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standard is: "Principles for effective risk data aggregation and risk reporting“, this is to strengthen bank reporting practices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Implemented in Global Systemically Important Banks (G-SIB) and then followed by Domestic Systemically important Banks (D-SIB)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Listed 14 principles from five sections</a:t>
            </a:r>
          </a:p>
          <a:p>
            <a:pPr lvl="1"/>
            <a:r>
              <a:rPr lang="en-US" sz="1200" dirty="0"/>
              <a:t>I. Overarching governance and infrastructure</a:t>
            </a:r>
          </a:p>
          <a:p>
            <a:pPr lvl="1"/>
            <a:r>
              <a:rPr lang="en-US" sz="1200" dirty="0"/>
              <a:t>   1. Governance</a:t>
            </a:r>
          </a:p>
          <a:p>
            <a:pPr lvl="1"/>
            <a:r>
              <a:rPr lang="en-US" sz="1200" dirty="0"/>
              <a:t>   2. Data architecture and IT infrastructure</a:t>
            </a:r>
          </a:p>
          <a:p>
            <a:pPr lvl="1"/>
            <a:r>
              <a:rPr lang="en-US" sz="1200" dirty="0"/>
              <a:t>II. Risk data aggregation capabilities</a:t>
            </a:r>
          </a:p>
          <a:p>
            <a:pPr lvl="1"/>
            <a:r>
              <a:rPr lang="en-US" sz="1200" b="1" dirty="0"/>
              <a:t>   3. Accuracy and integrity (Validity)</a:t>
            </a:r>
          </a:p>
          <a:p>
            <a:pPr lvl="1"/>
            <a:r>
              <a:rPr lang="en-US" sz="1200" b="1" dirty="0"/>
              <a:t>   4. Completeness</a:t>
            </a:r>
          </a:p>
          <a:p>
            <a:pPr lvl="1"/>
            <a:r>
              <a:rPr lang="en-US" sz="1200" b="1" dirty="0"/>
              <a:t>   5. Timeliness</a:t>
            </a:r>
          </a:p>
          <a:p>
            <a:pPr lvl="1"/>
            <a:r>
              <a:rPr lang="en-US" sz="1200" dirty="0"/>
              <a:t>   6. Adaptability</a:t>
            </a:r>
          </a:p>
          <a:p>
            <a:pPr lvl="1"/>
            <a:r>
              <a:rPr lang="en-US" sz="1200" dirty="0"/>
              <a:t>III. Risk reporting practices</a:t>
            </a:r>
          </a:p>
          <a:p>
            <a:pPr lvl="1"/>
            <a:r>
              <a:rPr lang="en-US" sz="1200" dirty="0"/>
              <a:t>   7. Accuracy</a:t>
            </a:r>
          </a:p>
          <a:p>
            <a:pPr lvl="1"/>
            <a:r>
              <a:rPr lang="en-US" sz="1200" b="1" dirty="0"/>
              <a:t>   8. Comprehensiveness (Completeness)</a:t>
            </a:r>
          </a:p>
          <a:p>
            <a:pPr lvl="1"/>
            <a:r>
              <a:rPr lang="en-US" sz="1200" dirty="0"/>
              <a:t>   9. Clarity and usefulness</a:t>
            </a:r>
          </a:p>
          <a:p>
            <a:pPr lvl="1"/>
            <a:r>
              <a:rPr lang="en-US" sz="1200" dirty="0"/>
              <a:t>   10. Frequency</a:t>
            </a:r>
          </a:p>
          <a:p>
            <a:pPr lvl="1"/>
            <a:r>
              <a:rPr lang="en-US" sz="1200" b="1" dirty="0"/>
              <a:t>   11. Distribution (Uniqueness)</a:t>
            </a:r>
          </a:p>
          <a:p>
            <a:pPr lvl="1"/>
            <a:r>
              <a:rPr lang="en-US" sz="1200" dirty="0"/>
              <a:t>IV. Supervisory review, tools and cooperation</a:t>
            </a:r>
          </a:p>
          <a:p>
            <a:pPr lvl="1"/>
            <a:r>
              <a:rPr lang="en-US" sz="1200" dirty="0"/>
              <a:t>   12. Review</a:t>
            </a:r>
          </a:p>
          <a:p>
            <a:pPr lvl="1"/>
            <a:r>
              <a:rPr lang="en-US" sz="1200" dirty="0"/>
              <a:t>   13. Remedial actions and supervisory measures</a:t>
            </a:r>
          </a:p>
          <a:p>
            <a:pPr lvl="1"/>
            <a:r>
              <a:rPr lang="en-US" sz="1200" dirty="0"/>
              <a:t>   14. Home/host cooperation</a:t>
            </a:r>
          </a:p>
          <a:p>
            <a:pPr lvl="1"/>
            <a:r>
              <a:rPr lang="en-US" sz="1200" dirty="0"/>
              <a:t>V. Implementation timeline and transitional arrangements</a:t>
            </a:r>
          </a:p>
          <a:p>
            <a:pPr lvl="1"/>
            <a:endParaRPr lang="en-US" sz="1200" dirty="0"/>
          </a:p>
          <a:p>
            <a:pPr lvl="1"/>
            <a:r>
              <a:rPr lang="en-US" sz="1200" i="1" dirty="0"/>
              <a:t>Reference : https://en.wikipedia.org/wiki/BCBS_239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42259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24902-4C74-4D55-A740-8019EA054A82}"/>
              </a:ext>
            </a:extLst>
          </p:cNvPr>
          <p:cNvSpPr txBox="1"/>
          <p:nvPr/>
        </p:nvSpPr>
        <p:spPr>
          <a:xfrm>
            <a:off x="497883" y="319047"/>
            <a:ext cx="1114917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Data Quality Rules (Dimensions)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94C94-1E69-4717-90C9-6E7573D98709}"/>
              </a:ext>
            </a:extLst>
          </p:cNvPr>
          <p:cNvSpPr txBox="1"/>
          <p:nvPr/>
        </p:nvSpPr>
        <p:spPr>
          <a:xfrm>
            <a:off x="497883" y="987849"/>
            <a:ext cx="1114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Examples to adherence to data quality </a:t>
            </a:r>
            <a:r>
              <a:rPr lang="en-US" b="1" dirty="0"/>
              <a:t>minimum</a:t>
            </a:r>
            <a:r>
              <a:rPr lang="en-US" dirty="0"/>
              <a:t> requirements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C1985F5-50A7-470E-944A-F92495BEC0B2}"/>
              </a:ext>
            </a:extLst>
          </p:cNvPr>
          <p:cNvSpPr/>
          <p:nvPr/>
        </p:nvSpPr>
        <p:spPr>
          <a:xfrm>
            <a:off x="846347" y="2410742"/>
            <a:ext cx="1571346" cy="763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Completeness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F5A34DC-1DE7-471F-A05C-8EDCC6F61428}"/>
              </a:ext>
            </a:extLst>
          </p:cNvPr>
          <p:cNvSpPr/>
          <p:nvPr/>
        </p:nvSpPr>
        <p:spPr>
          <a:xfrm>
            <a:off x="4437577" y="2410742"/>
            <a:ext cx="1571346" cy="76348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Accuracy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3C1E50-5096-4DB4-9023-F878EE8D4875}"/>
              </a:ext>
            </a:extLst>
          </p:cNvPr>
          <p:cNvSpPr/>
          <p:nvPr/>
        </p:nvSpPr>
        <p:spPr>
          <a:xfrm>
            <a:off x="2579698" y="2424286"/>
            <a:ext cx="1708969" cy="76348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Consistency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D490B83-6F2D-4542-9941-19D6BD8D075A}"/>
              </a:ext>
            </a:extLst>
          </p:cNvPr>
          <p:cNvSpPr/>
          <p:nvPr/>
        </p:nvSpPr>
        <p:spPr>
          <a:xfrm>
            <a:off x="7846599" y="2396971"/>
            <a:ext cx="1571346" cy="7634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Timeliness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C36D11-7308-4ECD-A895-95B1A0BA596E}"/>
              </a:ext>
            </a:extLst>
          </p:cNvPr>
          <p:cNvSpPr/>
          <p:nvPr/>
        </p:nvSpPr>
        <p:spPr>
          <a:xfrm>
            <a:off x="9568861" y="2396971"/>
            <a:ext cx="1571346" cy="7634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Uniqueness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8FDB13-DBA8-4A1C-AB8A-D70E170A1B55}"/>
              </a:ext>
            </a:extLst>
          </p:cNvPr>
          <p:cNvSpPr/>
          <p:nvPr/>
        </p:nvSpPr>
        <p:spPr>
          <a:xfrm>
            <a:off x="6142088" y="2396971"/>
            <a:ext cx="1571346" cy="763480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Validity</a:t>
            </a:r>
          </a:p>
        </p:txBody>
      </p:sp>
      <p:pic>
        <p:nvPicPr>
          <p:cNvPr id="20" name="Graphic 19" descr="Checklist">
            <a:extLst>
              <a:ext uri="{FF2B5EF4-FFF2-40B4-BE49-F238E27FC236}">
                <a16:creationId xmlns:a16="http://schemas.microsoft.com/office/drawing/2014/main" id="{B0235564-51E1-4BD8-B9CE-636EFE9DDE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4820" y="1496342"/>
            <a:ext cx="803038" cy="803038"/>
          </a:xfrm>
          <a:prstGeom prst="rect">
            <a:avLst/>
          </a:prstGeom>
        </p:spPr>
      </p:pic>
      <p:pic>
        <p:nvPicPr>
          <p:cNvPr id="22" name="Graphic 21" descr="Link">
            <a:extLst>
              <a:ext uri="{FF2B5EF4-FFF2-40B4-BE49-F238E27FC236}">
                <a16:creationId xmlns:a16="http://schemas.microsoft.com/office/drawing/2014/main" id="{1A9EA9DD-F2DE-4F02-96F2-6D815AF39C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13119" y="1509886"/>
            <a:ext cx="763480" cy="763480"/>
          </a:xfrm>
          <a:prstGeom prst="rect">
            <a:avLst/>
          </a:prstGeom>
        </p:spPr>
      </p:pic>
      <p:pic>
        <p:nvPicPr>
          <p:cNvPr id="24" name="Graphic 23" descr="Send">
            <a:extLst>
              <a:ext uri="{FF2B5EF4-FFF2-40B4-BE49-F238E27FC236}">
                <a16:creationId xmlns:a16="http://schemas.microsoft.com/office/drawing/2014/main" id="{41545FC4-9367-4E3F-8846-26346F01ED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63231" y="1516662"/>
            <a:ext cx="763480" cy="763480"/>
          </a:xfrm>
          <a:prstGeom prst="rect">
            <a:avLst/>
          </a:prstGeom>
        </p:spPr>
      </p:pic>
      <p:pic>
        <p:nvPicPr>
          <p:cNvPr id="26" name="Graphic 25" descr="Stopwatch">
            <a:extLst>
              <a:ext uri="{FF2B5EF4-FFF2-40B4-BE49-F238E27FC236}">
                <a16:creationId xmlns:a16="http://schemas.microsoft.com/office/drawing/2014/main" id="{D05070E0-BFDC-4804-AA8E-0314885507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32777" y="1482571"/>
            <a:ext cx="803038" cy="803038"/>
          </a:xfrm>
          <a:prstGeom prst="rect">
            <a:avLst/>
          </a:prstGeom>
        </p:spPr>
      </p:pic>
      <p:pic>
        <p:nvPicPr>
          <p:cNvPr id="28" name="Graphic 27" descr="Key">
            <a:extLst>
              <a:ext uri="{FF2B5EF4-FFF2-40B4-BE49-F238E27FC236}">
                <a16:creationId xmlns:a16="http://schemas.microsoft.com/office/drawing/2014/main" id="{EC3678E7-F96D-4024-B291-E6EC9A305F5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16099" y="1467489"/>
            <a:ext cx="818120" cy="818120"/>
          </a:xfrm>
          <a:prstGeom prst="rect">
            <a:avLst/>
          </a:prstGeom>
        </p:spPr>
      </p:pic>
      <p:pic>
        <p:nvPicPr>
          <p:cNvPr id="30" name="Graphic 29" descr="Network">
            <a:extLst>
              <a:ext uri="{FF2B5EF4-FFF2-40B4-BE49-F238E27FC236}">
                <a16:creationId xmlns:a16="http://schemas.microsoft.com/office/drawing/2014/main" id="{1DCE0988-D286-40F2-B208-59D2156562F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28846" y="1482571"/>
            <a:ext cx="763480" cy="763480"/>
          </a:xfrm>
          <a:prstGeom prst="rect">
            <a:avLst/>
          </a:prstGeom>
        </p:spPr>
      </p:pic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1C0C0C7-F03D-4EB4-92D0-6C23409B5403}"/>
              </a:ext>
            </a:extLst>
          </p:cNvPr>
          <p:cNvSpPr/>
          <p:nvPr/>
        </p:nvSpPr>
        <p:spPr>
          <a:xfrm>
            <a:off x="846347" y="3293616"/>
            <a:ext cx="1571346" cy="6658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Detect Missing Data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(file level record check, trending on period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C536A6A-6433-443C-8B58-063621D42BF0}"/>
              </a:ext>
            </a:extLst>
          </p:cNvPr>
          <p:cNvSpPr/>
          <p:nvPr/>
        </p:nvSpPr>
        <p:spPr>
          <a:xfrm>
            <a:off x="846347" y="4078835"/>
            <a:ext cx="1571346" cy="6658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Mandatory Fields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(account # must be present)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322A971-FE42-45DF-AE42-5C8EAF71EEEB}"/>
              </a:ext>
            </a:extLst>
          </p:cNvPr>
          <p:cNvSpPr/>
          <p:nvPr/>
        </p:nvSpPr>
        <p:spPr>
          <a:xfrm>
            <a:off x="846347" y="4864054"/>
            <a:ext cx="1571346" cy="6658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Data Volume Checks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(file level volume checks, size)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4AA38A-272F-4BC5-9B28-28B5244DC646}"/>
              </a:ext>
            </a:extLst>
          </p:cNvPr>
          <p:cNvSpPr/>
          <p:nvPr/>
        </p:nvSpPr>
        <p:spPr>
          <a:xfrm>
            <a:off x="846347" y="5649273"/>
            <a:ext cx="1571346" cy="6658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Aggregate Measure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(SUM of amount fields)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11DE5C1-1770-4CB6-9402-C9345AA78853}"/>
              </a:ext>
            </a:extLst>
          </p:cNvPr>
          <p:cNvSpPr/>
          <p:nvPr/>
        </p:nvSpPr>
        <p:spPr>
          <a:xfrm>
            <a:off x="4450674" y="3293616"/>
            <a:ext cx="1571346" cy="66582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Match Against Appropriate Source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(Reconciliation)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10E7CC2-418E-4611-A137-154DEF038C26}"/>
              </a:ext>
            </a:extLst>
          </p:cNvPr>
          <p:cNvSpPr/>
          <p:nvPr/>
        </p:nvSpPr>
        <p:spPr>
          <a:xfrm>
            <a:off x="4450674" y="4090041"/>
            <a:ext cx="1571346" cy="66582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Default Value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(check default value usage)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07A51C8-2B91-4478-A645-6E6BA803398C}"/>
              </a:ext>
            </a:extLst>
          </p:cNvPr>
          <p:cNvSpPr/>
          <p:nvPr/>
        </p:nvSpPr>
        <p:spPr>
          <a:xfrm>
            <a:off x="4450674" y="4886466"/>
            <a:ext cx="1571346" cy="665825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Onboarding Correctness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(Operational Changes)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12FD5BE-6577-4D7A-A211-0AF8C21E8F51}"/>
              </a:ext>
            </a:extLst>
          </p:cNvPr>
          <p:cNvSpPr/>
          <p:nvPr/>
        </p:nvSpPr>
        <p:spPr>
          <a:xfrm>
            <a:off x="2579702" y="3293616"/>
            <a:ext cx="1708969" cy="665825"/>
          </a:xfrm>
          <a:prstGeom prst="round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Overlapping Elements Check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(parent and child records have consistent data)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4E818D9-4622-4B66-8676-5D466FC9C97C}"/>
              </a:ext>
            </a:extLst>
          </p:cNvPr>
          <p:cNvSpPr/>
          <p:nvPr/>
        </p:nvSpPr>
        <p:spPr>
          <a:xfrm>
            <a:off x="2579699" y="4086463"/>
            <a:ext cx="1708969" cy="665825"/>
          </a:xfrm>
          <a:prstGeom prst="round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Referential Consistency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(orphan record identification)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BD13B88-2D89-4808-BABD-9B60D2068B30}"/>
              </a:ext>
            </a:extLst>
          </p:cNvPr>
          <p:cNvSpPr/>
          <p:nvPr/>
        </p:nvSpPr>
        <p:spPr>
          <a:xfrm>
            <a:off x="2579699" y="4864054"/>
            <a:ext cx="1708969" cy="665825"/>
          </a:xfrm>
          <a:prstGeom prst="round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Conditional Field Check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(Element Level population relationships)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E189162E-0D0E-4C73-B6DE-E6DD56597E57}"/>
              </a:ext>
            </a:extLst>
          </p:cNvPr>
          <p:cNvSpPr/>
          <p:nvPr/>
        </p:nvSpPr>
        <p:spPr>
          <a:xfrm>
            <a:off x="2579699" y="5641645"/>
            <a:ext cx="1708969" cy="665825"/>
          </a:xfrm>
          <a:prstGeom prst="round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Conditional Value Check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(Element level value relation)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FE85561F-C65E-46DF-8119-0E56A2F05277}"/>
              </a:ext>
            </a:extLst>
          </p:cNvPr>
          <p:cNvSpPr/>
          <p:nvPr/>
        </p:nvSpPr>
        <p:spPr>
          <a:xfrm>
            <a:off x="6142088" y="3292899"/>
            <a:ext cx="1571346" cy="66582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Master/Reference Data Checks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(conformance checks)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701FE17-C097-472A-8339-9EC1A6E2960D}"/>
              </a:ext>
            </a:extLst>
          </p:cNvPr>
          <p:cNvSpPr/>
          <p:nvPr/>
        </p:nvSpPr>
        <p:spPr>
          <a:xfrm>
            <a:off x="6152484" y="4086463"/>
            <a:ext cx="1571346" cy="66582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Range Check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(Expected range in the data)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423B335-19AE-444F-B7B8-0D57C1F24FCA}"/>
              </a:ext>
            </a:extLst>
          </p:cNvPr>
          <p:cNvSpPr/>
          <p:nvPr/>
        </p:nvSpPr>
        <p:spPr>
          <a:xfrm>
            <a:off x="6142088" y="4886465"/>
            <a:ext cx="1571346" cy="66582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Type Check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(format checks)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ECC98472-9B3A-430D-8A4B-302F3E97EE37}"/>
              </a:ext>
            </a:extLst>
          </p:cNvPr>
          <p:cNvSpPr/>
          <p:nvPr/>
        </p:nvSpPr>
        <p:spPr>
          <a:xfrm>
            <a:off x="7871518" y="3292899"/>
            <a:ext cx="1571346" cy="665825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Delivery Check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(Service Level Monitoring)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500C599-9229-457A-B2A4-A8BA597CA547}"/>
              </a:ext>
            </a:extLst>
          </p:cNvPr>
          <p:cNvSpPr/>
          <p:nvPr/>
        </p:nvSpPr>
        <p:spPr>
          <a:xfrm>
            <a:off x="7871518" y="4086463"/>
            <a:ext cx="1571346" cy="665825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Date/Time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(correct file level date or time)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F2701063-7185-4237-BB1A-5B4908E5A227}"/>
              </a:ext>
            </a:extLst>
          </p:cNvPr>
          <p:cNvSpPr/>
          <p:nvPr/>
        </p:nvSpPr>
        <p:spPr>
          <a:xfrm>
            <a:off x="9612298" y="3292899"/>
            <a:ext cx="1571346" cy="665825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Duplicate Check</a:t>
            </a:r>
          </a:p>
          <a:p>
            <a:pPr algn="ctr"/>
            <a:r>
              <a:rPr lang="en-US" sz="1050" dirty="0">
                <a:solidFill>
                  <a:schemeClr val="tx2">
                    <a:lumMod val="50000"/>
                  </a:schemeClr>
                </a:solidFill>
              </a:rPr>
              <a:t>(Should not be repeating values)</a:t>
            </a:r>
          </a:p>
        </p:txBody>
      </p:sp>
    </p:spTree>
    <p:extLst>
      <p:ext uri="{BB962C8B-B14F-4D97-AF65-F5344CB8AC3E}">
        <p14:creationId xmlns:p14="http://schemas.microsoft.com/office/powerpoint/2010/main" val="144811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FC29ED-2334-48E0-802C-255091972C32}"/>
              </a:ext>
            </a:extLst>
          </p:cNvPr>
          <p:cNvSpPr/>
          <p:nvPr/>
        </p:nvSpPr>
        <p:spPr>
          <a:xfrm>
            <a:off x="6096000" y="983974"/>
            <a:ext cx="5576217" cy="578600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AFF542-4258-4DC2-A18C-163BBE7BFA1C}"/>
              </a:ext>
            </a:extLst>
          </p:cNvPr>
          <p:cNvSpPr/>
          <p:nvPr/>
        </p:nvSpPr>
        <p:spPr>
          <a:xfrm>
            <a:off x="407504" y="983974"/>
            <a:ext cx="5576217" cy="57860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24902-4C74-4D55-A740-8019EA054A82}"/>
              </a:ext>
            </a:extLst>
          </p:cNvPr>
          <p:cNvSpPr txBox="1"/>
          <p:nvPr/>
        </p:nvSpPr>
        <p:spPr>
          <a:xfrm>
            <a:off x="497883" y="319047"/>
            <a:ext cx="1114917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Data Quality Tools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8B0957-2FF6-4599-A9AB-27281E349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460" y="1052982"/>
            <a:ext cx="5438775" cy="56712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F3C4DD-35C4-40C3-9451-8328C49972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70" y="1049011"/>
            <a:ext cx="5438775" cy="567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19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24902-4C74-4D55-A740-8019EA054A82}"/>
              </a:ext>
            </a:extLst>
          </p:cNvPr>
          <p:cNvSpPr txBox="1"/>
          <p:nvPr/>
        </p:nvSpPr>
        <p:spPr>
          <a:xfrm>
            <a:off x="497883" y="319047"/>
            <a:ext cx="1114917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Data Quality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94C94-1E69-4717-90C9-6E7573D98709}"/>
              </a:ext>
            </a:extLst>
          </p:cNvPr>
          <p:cNvSpPr txBox="1"/>
          <p:nvPr/>
        </p:nvSpPr>
        <p:spPr>
          <a:xfrm>
            <a:off x="497883" y="1057423"/>
            <a:ext cx="1114917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much BALANCE_AMOUNT value because missing ISIN (International Securities Identification Number) has a missing or incorrect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Understand  the source of missing data and fix it in source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Opportunity to find the Metadata and lineage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Tools Usage on Data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Algorithms to guess the gender based on names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USPS API to fix the incorrect US zip code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Data profiling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Data cleansing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27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6C24902-4C74-4D55-A740-8019EA054A82}"/>
              </a:ext>
            </a:extLst>
          </p:cNvPr>
          <p:cNvSpPr txBox="1"/>
          <p:nvPr/>
        </p:nvSpPr>
        <p:spPr>
          <a:xfrm>
            <a:off x="497883" y="319047"/>
            <a:ext cx="11149172" cy="584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</a:rPr>
              <a:t>Data Quality Results and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294C94-1E69-4717-90C9-6E7573D98709}"/>
              </a:ext>
            </a:extLst>
          </p:cNvPr>
          <p:cNvSpPr txBox="1"/>
          <p:nvPr/>
        </p:nvSpPr>
        <p:spPr>
          <a:xfrm>
            <a:off x="497883" y="1057423"/>
            <a:ext cx="1114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1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C551FD-1770-4AA4-9121-F3FFB1CF2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70350"/>
              </p:ext>
            </p:extLst>
          </p:nvPr>
        </p:nvGraphicFramePr>
        <p:xfrm>
          <a:off x="993913" y="1498561"/>
          <a:ext cx="4669132" cy="2082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084">
                  <a:extLst>
                    <a:ext uri="{9D8B030D-6E8A-4147-A177-3AD203B41FA5}">
                      <a16:colId xmlns:a16="http://schemas.microsoft.com/office/drawing/2014/main" val="3793061869"/>
                    </a:ext>
                  </a:extLst>
                </a:gridCol>
                <a:gridCol w="1662567">
                  <a:extLst>
                    <a:ext uri="{9D8B030D-6E8A-4147-A177-3AD203B41FA5}">
                      <a16:colId xmlns:a16="http://schemas.microsoft.com/office/drawing/2014/main" val="3771553018"/>
                    </a:ext>
                  </a:extLst>
                </a:gridCol>
                <a:gridCol w="751963">
                  <a:extLst>
                    <a:ext uri="{9D8B030D-6E8A-4147-A177-3AD203B41FA5}">
                      <a16:colId xmlns:a16="http://schemas.microsoft.com/office/drawing/2014/main" val="3564335853"/>
                    </a:ext>
                  </a:extLst>
                </a:gridCol>
                <a:gridCol w="1294518">
                  <a:extLst>
                    <a:ext uri="{9D8B030D-6E8A-4147-A177-3AD203B41FA5}">
                      <a16:colId xmlns:a16="http://schemas.microsoft.com/office/drawing/2014/main" val="26399665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  <a:highlight>
                            <a:srgbClr val="FFFF00"/>
                          </a:highlight>
                        </a:rPr>
                        <a:t>SOURCE/TABLE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CUSTOMER_TRANSACTION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558659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  <a:highlight>
                            <a:srgbClr val="FFFF00"/>
                          </a:highlight>
                        </a:rPr>
                        <a:t>PDE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BALANCE_AMOUNT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422263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RULE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BALANCE_AMOUNT &gt; 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67185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31040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DIMESION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  <a:highlight>
                            <a:srgbClr val="FFFF00"/>
                          </a:highlight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>
                          <a:effectLst/>
                          <a:highlight>
                            <a:srgbClr val="FFFF00"/>
                          </a:highlight>
                        </a:rPr>
                        <a:t>THRESHOLD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u="none" strike="noStrike" dirty="0">
                          <a:effectLst/>
                          <a:highlight>
                            <a:srgbClr val="FFFF00"/>
                          </a:highlight>
                        </a:rPr>
                        <a:t>THRESHOLD_ACTION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05743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Completeness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17678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Accuracy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608662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Consistency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309501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Validity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99%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2%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SEND_EMAIL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50578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Timeliness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15861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Uniqueness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788868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CD61ED3-CFAA-419F-B135-FF63A73A93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288703"/>
              </p:ext>
            </p:extLst>
          </p:nvPr>
        </p:nvGraphicFramePr>
        <p:xfrm>
          <a:off x="989444" y="4311689"/>
          <a:ext cx="4673601" cy="2095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4545">
                  <a:extLst>
                    <a:ext uri="{9D8B030D-6E8A-4147-A177-3AD203B41FA5}">
                      <a16:colId xmlns:a16="http://schemas.microsoft.com/office/drawing/2014/main" val="4144073206"/>
                    </a:ext>
                  </a:extLst>
                </a:gridCol>
                <a:gridCol w="1662571">
                  <a:extLst>
                    <a:ext uri="{9D8B030D-6E8A-4147-A177-3AD203B41FA5}">
                      <a16:colId xmlns:a16="http://schemas.microsoft.com/office/drawing/2014/main" val="2397672659"/>
                    </a:ext>
                  </a:extLst>
                </a:gridCol>
                <a:gridCol w="751964">
                  <a:extLst>
                    <a:ext uri="{9D8B030D-6E8A-4147-A177-3AD203B41FA5}">
                      <a16:colId xmlns:a16="http://schemas.microsoft.com/office/drawing/2014/main" val="2111214461"/>
                    </a:ext>
                  </a:extLst>
                </a:gridCol>
                <a:gridCol w="1294521">
                  <a:extLst>
                    <a:ext uri="{9D8B030D-6E8A-4147-A177-3AD203B41FA5}">
                      <a16:colId xmlns:a16="http://schemas.microsoft.com/office/drawing/2014/main" val="173708775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highlight>
                            <a:srgbClr val="FFFF00"/>
                          </a:highlight>
                        </a:rPr>
                        <a:t>SOURCE/TABLE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DEBT_BALANCE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79940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highlight>
                            <a:srgbClr val="FFFF00"/>
                          </a:highlight>
                        </a:rPr>
                        <a:t>PDE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ISIN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92042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RULE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SHOULD NOT BE NULL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34790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080221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highlight>
                            <a:srgbClr val="FFFF00"/>
                          </a:highlight>
                        </a:rPr>
                        <a:t>DIMESION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highlight>
                            <a:srgbClr val="FFFF00"/>
                          </a:highlight>
                        </a:rPr>
                        <a:t>TARGET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  <a:highlight>
                            <a:srgbClr val="FFFF00"/>
                          </a:highlight>
                        </a:rPr>
                        <a:t>THRESHOLD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THRESHOLD_ACTION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41061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Completeness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98%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1%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ABORT_SEND_EMAIL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2822566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Accuracy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053205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Consistency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33926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Validity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8388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Timeliness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94598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Uniqueness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000458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4D50F03-A422-4E51-B22B-13C51D1767B3}"/>
              </a:ext>
            </a:extLst>
          </p:cNvPr>
          <p:cNvSpPr txBox="1"/>
          <p:nvPr/>
        </p:nvSpPr>
        <p:spPr>
          <a:xfrm>
            <a:off x="497883" y="3788756"/>
            <a:ext cx="1114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2</a:t>
            </a:r>
          </a:p>
        </p:txBody>
      </p:sp>
    </p:spTree>
    <p:extLst>
      <p:ext uri="{BB962C8B-B14F-4D97-AF65-F5344CB8AC3E}">
        <p14:creationId xmlns:p14="http://schemas.microsoft.com/office/powerpoint/2010/main" val="133161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648</Words>
  <Application>Microsoft Office PowerPoint</Application>
  <PresentationFormat>Widescreen</PresentationFormat>
  <Paragraphs>194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 </dc:creator>
  <cp:lastModifiedBy> </cp:lastModifiedBy>
  <cp:revision>24</cp:revision>
  <dcterms:created xsi:type="dcterms:W3CDTF">2019-02-19T15:33:22Z</dcterms:created>
  <dcterms:modified xsi:type="dcterms:W3CDTF">2019-02-20T23:43:03Z</dcterms:modified>
</cp:coreProperties>
</file>